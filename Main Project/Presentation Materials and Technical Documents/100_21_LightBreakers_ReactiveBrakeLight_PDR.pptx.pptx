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4"/>
  </p:sldMasterIdLst>
  <p:sldIdLst>
    <p:sldId id="256" r:id="rId5"/>
    <p:sldId id="257" r:id="rId6"/>
    <p:sldId id="258" r:id="rId7"/>
    <p:sldId id="259" r:id="rId8"/>
    <p:sldId id="266" r:id="rId9"/>
    <p:sldId id="267" r:id="rId10"/>
    <p:sldId id="260" r:id="rId11"/>
    <p:sldId id="268" r:id="rId12"/>
    <p:sldId id="264" r:id="rId13"/>
    <p:sldId id="262" r:id="rId14"/>
    <p:sldId id="261" r:id="rId15"/>
    <p:sldId id="263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9B9"/>
    <a:srgbClr val="D12C1F"/>
    <a:srgbClr val="FF7171"/>
    <a:srgbClr val="FF2F2F"/>
    <a:srgbClr val="FF8181"/>
    <a:srgbClr val="FF6D6D"/>
    <a:srgbClr val="FF8F8F"/>
    <a:srgbClr val="FF0000"/>
    <a:srgbClr val="FF655D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C2B0A1-FE46-444E-B7A1-DD1028B67802}" v="5" dt="2025-10-19T20:16:08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46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Tagliola" userId="dd6df01853085bda" providerId="LiveId" clId="{26D1409A-7691-4205-9BEE-5D7802B5A536}"/>
    <pc:docChg chg="modSld">
      <pc:chgData name="Michael Tagliola" userId="dd6df01853085bda" providerId="LiveId" clId="{26D1409A-7691-4205-9BEE-5D7802B5A536}" dt="2025-10-19T20:16:08.373" v="15"/>
      <pc:docMkLst>
        <pc:docMk/>
      </pc:docMkLst>
      <pc:sldChg chg="setBg">
        <pc:chgData name="Michael Tagliola" userId="dd6df01853085bda" providerId="LiveId" clId="{26D1409A-7691-4205-9BEE-5D7802B5A536}" dt="2025-10-19T20:16:08.373" v="15"/>
        <pc:sldMkLst>
          <pc:docMk/>
          <pc:sldMk cId="72392278" sldId="257"/>
        </pc:sldMkLst>
      </pc:sldChg>
      <pc:sldChg chg="modSp mod">
        <pc:chgData name="Michael Tagliola" userId="dd6df01853085bda" providerId="LiveId" clId="{26D1409A-7691-4205-9BEE-5D7802B5A536}" dt="2025-10-01T17:10:43.324" v="6" actId="20577"/>
        <pc:sldMkLst>
          <pc:docMk/>
          <pc:sldMk cId="4054726216" sldId="258"/>
        </pc:sldMkLst>
        <pc:spChg chg="mod">
          <ac:chgData name="Michael Tagliola" userId="dd6df01853085bda" providerId="LiveId" clId="{26D1409A-7691-4205-9BEE-5D7802B5A536}" dt="2025-10-01T17:10:34.259" v="4" actId="20577"/>
          <ac:spMkLst>
            <pc:docMk/>
            <pc:sldMk cId="4054726216" sldId="258"/>
            <ac:spMk id="3" creationId="{494F4464-FB93-B311-BCDA-422829F2A00F}"/>
          </ac:spMkLst>
        </pc:spChg>
        <pc:spChg chg="mod">
          <ac:chgData name="Michael Tagliola" userId="dd6df01853085bda" providerId="LiveId" clId="{26D1409A-7691-4205-9BEE-5D7802B5A536}" dt="2025-10-01T17:10:43.324" v="6" actId="20577"/>
          <ac:spMkLst>
            <pc:docMk/>
            <pc:sldMk cId="4054726216" sldId="258"/>
            <ac:spMk id="5" creationId="{EBF6C2C2-7720-BA8B-7D9E-7A1E40622AE0}"/>
          </ac:spMkLst>
        </pc:spChg>
      </pc:sldChg>
      <pc:sldChg chg="modSp mod">
        <pc:chgData name="Michael Tagliola" userId="dd6df01853085bda" providerId="LiveId" clId="{26D1409A-7691-4205-9BEE-5D7802B5A536}" dt="2025-10-01T17:10:54.823" v="8" actId="20577"/>
        <pc:sldMkLst>
          <pc:docMk/>
          <pc:sldMk cId="2726362505" sldId="259"/>
        </pc:sldMkLst>
        <pc:spChg chg="mod">
          <ac:chgData name="Michael Tagliola" userId="dd6df01853085bda" providerId="LiveId" clId="{26D1409A-7691-4205-9BEE-5D7802B5A536}" dt="2025-10-01T17:10:54.823" v="8" actId="20577"/>
          <ac:spMkLst>
            <pc:docMk/>
            <pc:sldMk cId="2726362505" sldId="259"/>
            <ac:spMk id="2" creationId="{D550139C-8F4B-AA67-A12C-AF386CE3362E}"/>
          </ac:spMkLst>
        </pc:spChg>
      </pc:sldChg>
      <pc:sldChg chg="modSp mod">
        <pc:chgData name="Michael Tagliola" userId="dd6df01853085bda" providerId="LiveId" clId="{26D1409A-7691-4205-9BEE-5D7802B5A536}" dt="2025-10-01T17:45:13.768" v="10" actId="20577"/>
        <pc:sldMkLst>
          <pc:docMk/>
          <pc:sldMk cId="1752613987" sldId="268"/>
        </pc:sldMkLst>
        <pc:spChg chg="mod">
          <ac:chgData name="Michael Tagliola" userId="dd6df01853085bda" providerId="LiveId" clId="{26D1409A-7691-4205-9BEE-5D7802B5A536}" dt="2025-10-01T17:45:13.768" v="10" actId="20577"/>
          <ac:spMkLst>
            <pc:docMk/>
            <pc:sldMk cId="1752613987" sldId="268"/>
            <ac:spMk id="8" creationId="{C7B1FC6D-E6DF-E60A-78C0-06F2C2ECC4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94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2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42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93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2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6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65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8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29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5637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53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00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75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08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02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bg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2E0906A-B6A8-4D6F-9373-36591000A25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8B234D7-812A-4FEE-9D48-301D63913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198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parkfun.com/SparkFun_Qwiic_Hall_Effect_Sensor_TMAG5273/assets/component_documentation/tmag5273.pdf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cdn.sparkfun.com/assets/4/3/1/7/6/esp32-wroom-32e_esp32-wroom-32ue_datasheet_en_v1-6.pdf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igikey.com/en/htmldatasheets/production/466599/0/0/1/adxl335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hyperlink" Target="https://cdn.sparkfun.com/assets/9/0/4/1/e/KWH018ST14-F01_B_20181212.pdf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chemeClr val="bg1">
                <a:lumMod val="85000"/>
              </a:schemeClr>
            </a:gs>
            <a:gs pos="27000">
              <a:schemeClr val="bg1">
                <a:lumMod val="85000"/>
              </a:schemeClr>
            </a:gs>
            <a:gs pos="51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2187F-4D4B-780E-8491-CEAA6D104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67" y="665457"/>
            <a:ext cx="6351211" cy="4267200"/>
          </a:xfrm>
          <a:effectLst/>
        </p:spPr>
        <p:txBody>
          <a:bodyPr anchor="ctr">
            <a:normAutofit/>
          </a:bodyPr>
          <a:lstStyle/>
          <a:p>
            <a:r>
              <a:rPr lang="en-US" sz="6600">
                <a:solidFill>
                  <a:schemeClr val="tx2">
                    <a:lumMod val="75000"/>
                  </a:schemeClr>
                </a:solidFill>
              </a:rPr>
              <a:t>Light-Braker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5735335-BDFF-3FEE-CA9F-D5F93227701A}"/>
              </a:ext>
            </a:extLst>
          </p:cNvPr>
          <p:cNvSpPr/>
          <p:nvPr/>
        </p:nvSpPr>
        <p:spPr>
          <a:xfrm>
            <a:off x="7652173" y="2719619"/>
            <a:ext cx="1768028" cy="1707082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glow rad="101600">
              <a:srgbClr val="C00000">
                <a:alpha val="56000"/>
              </a:srgb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9B7C0E8-7262-C9AD-50FC-8A644ED3E888}"/>
              </a:ext>
            </a:extLst>
          </p:cNvPr>
          <p:cNvSpPr/>
          <p:nvPr/>
        </p:nvSpPr>
        <p:spPr>
          <a:xfrm>
            <a:off x="9126121" y="1543070"/>
            <a:ext cx="1315745" cy="1302775"/>
          </a:xfrm>
          <a:prstGeom prst="flowChartConnector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glow rad="101600">
              <a:srgbClr val="FF0000">
                <a:alpha val="60000"/>
              </a:srgb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4A139F90-4ED0-C471-89A7-8BFF540CED08}"/>
              </a:ext>
            </a:extLst>
          </p:cNvPr>
          <p:cNvSpPr/>
          <p:nvPr/>
        </p:nvSpPr>
        <p:spPr>
          <a:xfrm>
            <a:off x="10314046" y="665457"/>
            <a:ext cx="887830" cy="877613"/>
          </a:xfrm>
          <a:prstGeom prst="flowChartConnector">
            <a:avLst/>
          </a:prstGeom>
          <a:solidFill>
            <a:srgbClr val="FFB9B9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01715"/>
              </a:solidFill>
              <a:highlight>
                <a:srgbClr val="FFFF00"/>
              </a:highlight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BF30DF7-3C26-AFDB-4ACF-4A03B515CEC4}"/>
              </a:ext>
            </a:extLst>
          </p:cNvPr>
          <p:cNvCxnSpPr/>
          <p:nvPr/>
        </p:nvCxnSpPr>
        <p:spPr>
          <a:xfrm>
            <a:off x="6636774" y="1295398"/>
            <a:ext cx="0" cy="426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10F51C-0EA4-DF90-D845-ED9EF0327305}"/>
              </a:ext>
            </a:extLst>
          </p:cNvPr>
          <p:cNvCxnSpPr>
            <a:cxnSpLocks/>
          </p:cNvCxnSpPr>
          <p:nvPr/>
        </p:nvCxnSpPr>
        <p:spPr>
          <a:xfrm flipH="1">
            <a:off x="6636774" y="422787"/>
            <a:ext cx="4768645" cy="5139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3C6D34-4D39-C4C6-EAA7-DA19D817131C}"/>
              </a:ext>
            </a:extLst>
          </p:cNvPr>
          <p:cNvSpPr txBox="1"/>
          <p:nvPr/>
        </p:nvSpPr>
        <p:spPr>
          <a:xfrm>
            <a:off x="2817000" y="3575979"/>
            <a:ext cx="6204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Where Safety and Innovation Meet</a:t>
            </a:r>
          </a:p>
        </p:txBody>
      </p:sp>
    </p:spTree>
    <p:extLst>
      <p:ext uri="{BB962C8B-B14F-4D97-AF65-F5344CB8AC3E}">
        <p14:creationId xmlns:p14="http://schemas.microsoft.com/office/powerpoint/2010/main" val="4018636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6" grpId="1" animBg="1"/>
      <p:bldP spid="8" grpId="0" animBg="1"/>
      <p:bldP spid="8" grpId="1" animBg="1"/>
      <p:bldP spid="10" grpId="0" animBg="1"/>
      <p:bldP spid="10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7BF8-F4EB-6C84-7CC6-C1D39CAF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Presentation Outline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43134AF-5B36-DA2E-8A16-776D01B41CEB}"/>
              </a:ext>
            </a:extLst>
          </p:cNvPr>
          <p:cNvSpPr/>
          <p:nvPr/>
        </p:nvSpPr>
        <p:spPr>
          <a:xfrm>
            <a:off x="2952500" y="1895619"/>
            <a:ext cx="856034" cy="505838"/>
          </a:xfrm>
          <a:prstGeom prst="rightArrow">
            <a:avLst>
              <a:gd name="adj1" fmla="val 50000"/>
              <a:gd name="adj2" fmla="val 48077"/>
            </a:avLst>
          </a:prstGeom>
          <a:solidFill>
            <a:schemeClr val="bg2">
              <a:lumMod val="60000"/>
              <a:lumOff val="40000"/>
            </a:schemeClr>
          </a:solidFill>
          <a:ln w="2540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2F63699-BEEF-0A4C-22AF-A517AE66F897}"/>
              </a:ext>
            </a:extLst>
          </p:cNvPr>
          <p:cNvSpPr/>
          <p:nvPr/>
        </p:nvSpPr>
        <p:spPr>
          <a:xfrm>
            <a:off x="7354600" y="1690688"/>
            <a:ext cx="1730657" cy="873853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Concept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49AFA22-AFC6-FD75-0890-FFF757621532}"/>
              </a:ext>
            </a:extLst>
          </p:cNvPr>
          <p:cNvSpPr/>
          <p:nvPr/>
        </p:nvSpPr>
        <p:spPr>
          <a:xfrm>
            <a:off x="6233250" y="1875540"/>
            <a:ext cx="856034" cy="505838"/>
          </a:xfrm>
          <a:prstGeom prst="rightArrow">
            <a:avLst>
              <a:gd name="adj1" fmla="val 50000"/>
              <a:gd name="adj2" fmla="val 48077"/>
            </a:avLst>
          </a:prstGeom>
          <a:solidFill>
            <a:schemeClr val="bg2">
              <a:lumMod val="60000"/>
              <a:lumOff val="40000"/>
            </a:schemeClr>
          </a:solidFill>
          <a:ln w="2540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lowchart: Multidocument 7">
            <a:extLst>
              <a:ext uri="{FF2B5EF4-FFF2-40B4-BE49-F238E27FC236}">
                <a16:creationId xmlns:a16="http://schemas.microsoft.com/office/drawing/2014/main" id="{900068CF-A71A-5309-27A6-C493A07ACB2B}"/>
              </a:ext>
            </a:extLst>
          </p:cNvPr>
          <p:cNvSpPr/>
          <p:nvPr/>
        </p:nvSpPr>
        <p:spPr>
          <a:xfrm>
            <a:off x="4138783" y="1654616"/>
            <a:ext cx="1828800" cy="1138136"/>
          </a:xfrm>
          <a:prstGeom prst="flowChartMultidocument">
            <a:avLst/>
          </a:prstGeom>
          <a:solidFill>
            <a:schemeClr val="accent6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7380D2C9-C09B-4853-392D-AA322A13A055}"/>
              </a:ext>
            </a:extLst>
          </p:cNvPr>
          <p:cNvSpPr/>
          <p:nvPr/>
        </p:nvSpPr>
        <p:spPr>
          <a:xfrm rot="5400000">
            <a:off x="9474269" y="1838863"/>
            <a:ext cx="1138137" cy="1385530"/>
          </a:xfrm>
          <a:prstGeom prst="bentArrow">
            <a:avLst/>
          </a:prstGeom>
          <a:solidFill>
            <a:schemeClr val="bg2">
              <a:lumMod val="60000"/>
              <a:lumOff val="40000"/>
            </a:schemeClr>
          </a:solidFill>
          <a:ln w="2540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F254EFA5-4BDD-1460-4ED1-6AE085E1D820}"/>
              </a:ext>
            </a:extLst>
          </p:cNvPr>
          <p:cNvSpPr/>
          <p:nvPr/>
        </p:nvSpPr>
        <p:spPr>
          <a:xfrm>
            <a:off x="5081378" y="3599863"/>
            <a:ext cx="2101382" cy="846306"/>
          </a:xfrm>
          <a:prstGeom prst="flowChartAlternateProcess">
            <a:avLst/>
          </a:prstGeom>
          <a:solidFill>
            <a:srgbClr val="FF000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Testing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67BCBECB-7242-5322-C942-5E0A1E4E2EE4}"/>
              </a:ext>
            </a:extLst>
          </p:cNvPr>
          <p:cNvSpPr/>
          <p:nvPr/>
        </p:nvSpPr>
        <p:spPr>
          <a:xfrm>
            <a:off x="8777796" y="3602078"/>
            <a:ext cx="2217907" cy="846306"/>
          </a:xfrm>
          <a:prstGeom prst="flowChartInputOutput">
            <a:avLst/>
          </a:prstGeom>
          <a:solidFill>
            <a:srgbClr val="FF000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Timeline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2945270-2714-856B-0672-00114F8B1443}"/>
              </a:ext>
            </a:extLst>
          </p:cNvPr>
          <p:cNvSpPr/>
          <p:nvPr/>
        </p:nvSpPr>
        <p:spPr>
          <a:xfrm rot="10800000">
            <a:off x="7552261" y="3796002"/>
            <a:ext cx="856034" cy="505838"/>
          </a:xfrm>
          <a:prstGeom prst="rightArrow">
            <a:avLst>
              <a:gd name="adj1" fmla="val 50000"/>
              <a:gd name="adj2" fmla="val 48077"/>
            </a:avLst>
          </a:prstGeom>
          <a:solidFill>
            <a:schemeClr val="bg2">
              <a:lumMod val="60000"/>
              <a:lumOff val="40000"/>
            </a:schemeClr>
          </a:solidFill>
          <a:ln w="2540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Flowchart: Preparation 12">
            <a:extLst>
              <a:ext uri="{FF2B5EF4-FFF2-40B4-BE49-F238E27FC236}">
                <a16:creationId xmlns:a16="http://schemas.microsoft.com/office/drawing/2014/main" id="{B981A0AD-123C-958A-A023-D51E65F61962}"/>
              </a:ext>
            </a:extLst>
          </p:cNvPr>
          <p:cNvSpPr/>
          <p:nvPr/>
        </p:nvSpPr>
        <p:spPr>
          <a:xfrm>
            <a:off x="520869" y="1728806"/>
            <a:ext cx="2101382" cy="933855"/>
          </a:xfrm>
          <a:prstGeom prst="flowChartPreparation">
            <a:avLst/>
          </a:prstGeom>
          <a:solidFill>
            <a:schemeClr val="accent6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Problem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800BC1B-1F40-F241-C80B-8507C99BA86F}"/>
              </a:ext>
            </a:extLst>
          </p:cNvPr>
          <p:cNvSpPr/>
          <p:nvPr/>
        </p:nvSpPr>
        <p:spPr>
          <a:xfrm rot="10800000">
            <a:off x="3855843" y="3796002"/>
            <a:ext cx="856034" cy="505838"/>
          </a:xfrm>
          <a:prstGeom prst="rightArrow">
            <a:avLst>
              <a:gd name="adj1" fmla="val 50000"/>
              <a:gd name="adj2" fmla="val 48077"/>
            </a:avLst>
          </a:prstGeom>
          <a:solidFill>
            <a:schemeClr val="bg2">
              <a:lumMod val="60000"/>
              <a:lumOff val="40000"/>
            </a:schemeClr>
          </a:solidFill>
          <a:ln w="2540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31FAEEBA-A3C1-5896-A760-916D7F99127F}"/>
              </a:ext>
            </a:extLst>
          </p:cNvPr>
          <p:cNvSpPr/>
          <p:nvPr/>
        </p:nvSpPr>
        <p:spPr>
          <a:xfrm>
            <a:off x="1629267" y="3634636"/>
            <a:ext cx="1985968" cy="846306"/>
          </a:xfrm>
          <a:prstGeom prst="flowChartProcess">
            <a:avLst/>
          </a:prstGeom>
          <a:solidFill>
            <a:srgbClr val="FF000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FFFF"/>
                </a:solidFill>
              </a:rPr>
              <a:t>Risk Mitigation</a:t>
            </a: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E82B9AE0-C5EB-8F8B-3658-CC3CE75793BD}"/>
              </a:ext>
            </a:extLst>
          </p:cNvPr>
          <p:cNvSpPr/>
          <p:nvPr/>
        </p:nvSpPr>
        <p:spPr>
          <a:xfrm flipV="1">
            <a:off x="2515465" y="4843142"/>
            <a:ext cx="1429648" cy="1158823"/>
          </a:xfrm>
          <a:prstGeom prst="bentArrow">
            <a:avLst/>
          </a:prstGeom>
          <a:solidFill>
            <a:schemeClr val="bg2">
              <a:lumMod val="60000"/>
              <a:lumOff val="40000"/>
            </a:schemeClr>
          </a:solidFill>
          <a:ln w="2540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01EC05DC-1E30-20AB-8AA2-09004C8C50EF}"/>
              </a:ext>
            </a:extLst>
          </p:cNvPr>
          <p:cNvSpPr/>
          <p:nvPr/>
        </p:nvSpPr>
        <p:spPr>
          <a:xfrm>
            <a:off x="4354687" y="5237104"/>
            <a:ext cx="2193258" cy="1035766"/>
          </a:xfrm>
          <a:prstGeom prst="flowChartDocument">
            <a:avLst/>
          </a:prstGeom>
          <a:solidFill>
            <a:srgbClr val="C0000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Bill of Materials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ECB7AAD-AEF6-C140-3E0C-B1E965436614}"/>
              </a:ext>
            </a:extLst>
          </p:cNvPr>
          <p:cNvSpPr/>
          <p:nvPr/>
        </p:nvSpPr>
        <p:spPr>
          <a:xfrm>
            <a:off x="6957519" y="5353492"/>
            <a:ext cx="856034" cy="505838"/>
          </a:xfrm>
          <a:prstGeom prst="rightArrow">
            <a:avLst>
              <a:gd name="adj1" fmla="val 50000"/>
              <a:gd name="adj2" fmla="val 48077"/>
            </a:avLst>
          </a:prstGeom>
          <a:solidFill>
            <a:schemeClr val="bg2">
              <a:lumMod val="60000"/>
              <a:lumOff val="40000"/>
            </a:schemeClr>
          </a:solidFill>
          <a:ln w="2540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Flowchart: Sequential Access Storage 20">
            <a:extLst>
              <a:ext uri="{FF2B5EF4-FFF2-40B4-BE49-F238E27FC236}">
                <a16:creationId xmlns:a16="http://schemas.microsoft.com/office/drawing/2014/main" id="{5B50DEC6-6C6F-1BF5-58AE-683F89A68E7A}"/>
              </a:ext>
            </a:extLst>
          </p:cNvPr>
          <p:cNvSpPr/>
          <p:nvPr/>
        </p:nvSpPr>
        <p:spPr>
          <a:xfrm flipH="1">
            <a:off x="8110920" y="5131680"/>
            <a:ext cx="2091448" cy="1141189"/>
          </a:xfrm>
          <a:prstGeom prst="flowChartMagneticTape">
            <a:avLst/>
          </a:prstGeom>
          <a:solidFill>
            <a:srgbClr val="C0000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Summary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92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AECB-21E7-B290-3CE6-DE666869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F4464-FB93-B311-BCDA-422829F2A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544" y="1638696"/>
            <a:ext cx="5874187" cy="191952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solidFill>
                  <a:schemeClr val="bg1"/>
                </a:solidFill>
              </a:rPr>
              <a:t>Most bikes don’t have a brake light to indicate that they are braking</a:t>
            </a:r>
          </a:p>
          <a:p>
            <a:r>
              <a:rPr lang="en-US" dirty="0">
                <a:solidFill>
                  <a:schemeClr val="bg1"/>
                </a:solidFill>
              </a:rPr>
              <a:t>Congested bike lanes can reduce the rider’s reaction time leading to crashes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30" name="Picture 6" descr="The BroadsheetDAILY - 10/11/22 - Street Wise - The Broadsheet">
            <a:extLst>
              <a:ext uri="{FF2B5EF4-FFF2-40B4-BE49-F238E27FC236}">
                <a16:creationId xmlns:a16="http://schemas.microsoft.com/office/drawing/2014/main" id="{C5609146-5FC1-1205-A597-5D697E1FC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660" y="1903581"/>
            <a:ext cx="4067783" cy="30508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  <a:softEdge rad="38100"/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9377AD2-6B37-B2C4-91CC-9B92ECA51987}"/>
              </a:ext>
            </a:extLst>
          </p:cNvPr>
          <p:cNvSpPr txBox="1">
            <a:spLocks/>
          </p:cNvSpPr>
          <p:nvPr/>
        </p:nvSpPr>
        <p:spPr>
          <a:xfrm>
            <a:off x="838200" y="35062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F6C2C2-7720-BA8B-7D9E-7A1E40622AE0}"/>
              </a:ext>
            </a:extLst>
          </p:cNvPr>
          <p:cNvSpPr txBox="1">
            <a:spLocks/>
          </p:cNvSpPr>
          <p:nvPr/>
        </p:nvSpPr>
        <p:spPr>
          <a:xfrm>
            <a:off x="1029207" y="4526535"/>
            <a:ext cx="5874187" cy="1919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Create a brake light that lets trailing riders know you are braking and how fast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726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139C-8F4B-AA67-A12C-AF386CE33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bg1"/>
                </a:solidFill>
              </a:rPr>
              <a:t>Introducing the Dynamic Brake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F7285-CEB2-976F-CBE4-C09222B2C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Increases in brightness the quicker you are slowing down</a:t>
            </a:r>
          </a:p>
          <a:p>
            <a:r>
              <a:rPr lang="en-US">
                <a:solidFill>
                  <a:schemeClr val="bg1"/>
                </a:solidFill>
              </a:rPr>
              <a:t>Uses an accelerometer to take acceleration inputs </a:t>
            </a:r>
          </a:p>
          <a:p>
            <a:r>
              <a:rPr lang="en-US">
                <a:solidFill>
                  <a:schemeClr val="bg1"/>
                </a:solidFill>
              </a:rPr>
              <a:t>As negative acceleration increases, power output to the brake light increases</a:t>
            </a:r>
          </a:p>
          <a:p>
            <a:r>
              <a:rPr lang="en-US">
                <a:solidFill>
                  <a:schemeClr val="bg1"/>
                </a:solidFill>
              </a:rPr>
              <a:t>Added LCD display and distance tracking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47759-4986-358D-2CEF-35CD37BF3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516" y="3427068"/>
            <a:ext cx="3420042" cy="30481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272636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4900E-8BD7-7660-6582-2A3757FA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3C8B-15FB-2860-3B6C-B5AAD1F4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bg1"/>
                </a:solidFill>
              </a:rPr>
              <a:t>Introducing the Dynamic Break Light</a:t>
            </a:r>
          </a:p>
        </p:txBody>
      </p:sp>
      <p:pic>
        <p:nvPicPr>
          <p:cNvPr id="6" name="Content Placeholder 5" descr="A red circuit board with small holes and a black microchip&#10;&#10;AI-generated content may be incorrect.">
            <a:extLst>
              <a:ext uri="{FF2B5EF4-FFF2-40B4-BE49-F238E27FC236}">
                <a16:creationId xmlns:a16="http://schemas.microsoft.com/office/drawing/2014/main" id="{365A1075-0CF9-2D79-1A9A-2F4A92F0C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427" y="1610799"/>
            <a:ext cx="2295060" cy="1818811"/>
          </a:xfrm>
          <a:prstGeom prst="rect">
            <a:avLst/>
          </a:prstGeom>
        </p:spPr>
      </p:pic>
      <p:pic>
        <p:nvPicPr>
          <p:cNvPr id="8" name="Picture 7" descr="A red circuit board with black and white text&#10;&#10;AI-generated content may be incorrect.">
            <a:extLst>
              <a:ext uri="{FF2B5EF4-FFF2-40B4-BE49-F238E27FC236}">
                <a16:creationId xmlns:a16="http://schemas.microsoft.com/office/drawing/2014/main" id="{76F6F9F8-F817-37F5-2F2A-34C57B656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662" y="1608978"/>
            <a:ext cx="2149863" cy="1819043"/>
          </a:xfrm>
          <a:prstGeom prst="rect">
            <a:avLst/>
          </a:prstGeom>
        </p:spPr>
      </p:pic>
      <p:pic>
        <p:nvPicPr>
          <p:cNvPr id="9" name="Picture 8" descr="A red and white electronic device&#10;&#10;AI-generated content may be incorrect.">
            <a:extLst>
              <a:ext uri="{FF2B5EF4-FFF2-40B4-BE49-F238E27FC236}">
                <a16:creationId xmlns:a16="http://schemas.microsoft.com/office/drawing/2014/main" id="{5423A459-6693-7125-A134-193055614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246" y="3929411"/>
            <a:ext cx="2373585" cy="2084349"/>
          </a:xfrm>
          <a:prstGeom prst="rect">
            <a:avLst/>
          </a:prstGeom>
        </p:spPr>
      </p:pic>
      <p:pic>
        <p:nvPicPr>
          <p:cNvPr id="10" name="Picture 9" descr="A red and white rectangular device&#10;&#10;AI-generated content may be incorrect.">
            <a:extLst>
              <a:ext uri="{FF2B5EF4-FFF2-40B4-BE49-F238E27FC236}">
                <a16:creationId xmlns:a16="http://schemas.microsoft.com/office/drawing/2014/main" id="{CFCFE72D-EA14-E345-C0FF-3AA0570BA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256" y="3560608"/>
            <a:ext cx="2031960" cy="24586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9FB2E1-C8A5-2604-14F9-2043197ACCAA}"/>
              </a:ext>
            </a:extLst>
          </p:cNvPr>
          <p:cNvSpPr txBox="1"/>
          <p:nvPr/>
        </p:nvSpPr>
        <p:spPr>
          <a:xfrm>
            <a:off x="3155576" y="1609165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Accelerometer ADXL335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FDCDF9-2894-6927-AF0A-B5F40EF573D2}"/>
              </a:ext>
            </a:extLst>
          </p:cNvPr>
          <p:cNvSpPr txBox="1"/>
          <p:nvPr/>
        </p:nvSpPr>
        <p:spPr>
          <a:xfrm>
            <a:off x="1116106" y="5449047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Thing Plus ESP32</a:t>
            </a:r>
            <a:endParaRPr lang="en-US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BCE855-B48F-8638-5A9F-7681050D9386}"/>
              </a:ext>
            </a:extLst>
          </p:cNvPr>
          <p:cNvSpPr txBox="1"/>
          <p:nvPr/>
        </p:nvSpPr>
        <p:spPr>
          <a:xfrm>
            <a:off x="8668871" y="1609165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Hall-Effect Sensor</a:t>
            </a:r>
            <a:endParaRPr lang="en-US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78DF5-CF86-C708-F0BE-A004211D6EB3}"/>
              </a:ext>
            </a:extLst>
          </p:cNvPr>
          <p:cNvSpPr txBox="1"/>
          <p:nvPr/>
        </p:nvSpPr>
        <p:spPr>
          <a:xfrm>
            <a:off x="6509870" y="5449047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TFT LCD Breakout</a:t>
            </a:r>
            <a:endParaRPr lang="en-US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58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242CE-6D35-D581-47C2-62287ED9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8021-15D0-0CA7-540B-B16C494B3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6" y="15864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Electronics</a:t>
            </a:r>
          </a:p>
        </p:txBody>
      </p:sp>
      <p:pic>
        <p:nvPicPr>
          <p:cNvPr id="5" name="Picture 4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6868972D-FDE8-7E03-9937-A1EFDA3DF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9" t="4014" r="2898" b="4229"/>
          <a:stretch>
            <a:fillRect/>
          </a:stretch>
        </p:blipFill>
        <p:spPr>
          <a:xfrm>
            <a:off x="3886524" y="1071716"/>
            <a:ext cx="8177658" cy="5627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52DE12-316F-2878-B423-4C2216BD4880}"/>
              </a:ext>
            </a:extLst>
          </p:cNvPr>
          <p:cNvSpPr txBox="1"/>
          <p:nvPr/>
        </p:nvSpPr>
        <p:spPr>
          <a:xfrm>
            <a:off x="508982" y="1346559"/>
            <a:ext cx="316598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Why the ESP32 platform over the UNO?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Processing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Bluetooth and Wi-fi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TFT LCD Breakout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similar to the TI-84 PLUS CE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customizable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SparkFun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HyperDisplay</a:t>
            </a:r>
            <a:r>
              <a:rPr lang="en-US" dirty="0">
                <a:solidFill>
                  <a:schemeClr val="bg1"/>
                </a:solidFill>
              </a:rPr>
              <a:t>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Sensors provide analog readings, creating room for fine tuning.</a:t>
            </a:r>
          </a:p>
        </p:txBody>
      </p:sp>
    </p:spTree>
    <p:extLst>
      <p:ext uri="{BB962C8B-B14F-4D97-AF65-F5344CB8AC3E}">
        <p14:creationId xmlns:p14="http://schemas.microsoft.com/office/powerpoint/2010/main" val="3001897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3073-40AD-DB98-B306-6D51718E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A892A-A3E9-C841-AA50-D39D28835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153" y="432619"/>
            <a:ext cx="5244465" cy="59927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096B02-B6CA-C27B-DC18-C7DFCC8905D1}"/>
              </a:ext>
            </a:extLst>
          </p:cNvPr>
          <p:cNvSpPr txBox="1"/>
          <p:nvPr/>
        </p:nvSpPr>
        <p:spPr>
          <a:xfrm>
            <a:off x="838200" y="1759974"/>
            <a:ext cx="36649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Arduino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easy to 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good user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variety of documented libraries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Espressif</a:t>
            </a:r>
            <a:r>
              <a:rPr lang="en-US" dirty="0">
                <a:solidFill>
                  <a:schemeClr val="bg1"/>
                </a:solidFill>
              </a:rPr>
              <a:t> esp32 library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SparkFun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HyperDisplay</a:t>
            </a:r>
            <a:r>
              <a:rPr lang="en-US" dirty="0">
                <a:solidFill>
                  <a:schemeClr val="bg1"/>
                </a:solidFill>
              </a:rPr>
              <a:t> library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ArduinoBLE</a:t>
            </a:r>
            <a:r>
              <a:rPr lang="en-US" dirty="0">
                <a:solidFill>
                  <a:schemeClr val="bg1"/>
                </a:solidFill>
              </a:rPr>
              <a:t> library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7536D-D11E-48A8-0762-F10C52DF0FC5}"/>
              </a:ext>
            </a:extLst>
          </p:cNvPr>
          <p:cNvSpPr txBox="1"/>
          <p:nvPr/>
        </p:nvSpPr>
        <p:spPr>
          <a:xfrm>
            <a:off x="914400" y="4286865"/>
            <a:ext cx="39525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Issues: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esp32 specific analog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ledcWrite</a:t>
            </a:r>
            <a:r>
              <a:rPr lang="en-US" dirty="0">
                <a:solidFill>
                  <a:schemeClr val="bg1"/>
                </a:solidFill>
              </a:rPr>
              <a:t>() alternative to </a:t>
            </a:r>
            <a:r>
              <a:rPr lang="en-US" dirty="0" err="1">
                <a:solidFill>
                  <a:schemeClr val="bg1"/>
                </a:solidFill>
              </a:rPr>
              <a:t>analogWrite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3.x.x </a:t>
            </a:r>
            <a:r>
              <a:rPr lang="en-US" dirty="0" err="1">
                <a:solidFill>
                  <a:schemeClr val="bg1"/>
                </a:solidFill>
              </a:rPr>
              <a:t>verions</a:t>
            </a:r>
            <a:r>
              <a:rPr lang="en-US" dirty="0">
                <a:solidFill>
                  <a:schemeClr val="bg1"/>
                </a:solidFill>
              </a:rPr>
              <a:t> of </a:t>
            </a:r>
            <a:r>
              <a:rPr lang="en-US" dirty="0" err="1">
                <a:solidFill>
                  <a:schemeClr val="bg1"/>
                </a:solidFill>
              </a:rPr>
              <a:t>Espressif</a:t>
            </a:r>
            <a:r>
              <a:rPr lang="en-US" dirty="0">
                <a:solidFill>
                  <a:schemeClr val="bg1"/>
                </a:solidFill>
              </a:rPr>
              <a:t> esp32 library broke the defining of </a:t>
            </a:r>
            <a:r>
              <a:rPr lang="en-US" dirty="0" err="1">
                <a:solidFill>
                  <a:schemeClr val="bg1"/>
                </a:solidFill>
              </a:rPr>
              <a:t>ledc</a:t>
            </a:r>
            <a:r>
              <a:rPr lang="en-US" dirty="0">
                <a:solidFill>
                  <a:schemeClr val="bg1"/>
                </a:solidFill>
              </a:rPr>
              <a:t> functions</a:t>
            </a:r>
          </a:p>
        </p:txBody>
      </p:sp>
    </p:spTree>
    <p:extLst>
      <p:ext uri="{BB962C8B-B14F-4D97-AF65-F5344CB8AC3E}">
        <p14:creationId xmlns:p14="http://schemas.microsoft.com/office/powerpoint/2010/main" val="1260419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D40DB-6768-F8A3-C3A2-DC3AE0FB6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EA706-695F-0B79-8725-F8FBB8E4A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Electrical Enclosures</a:t>
            </a:r>
          </a:p>
        </p:txBody>
      </p:sp>
      <p:pic>
        <p:nvPicPr>
          <p:cNvPr id="4" name="Picture 3" descr="A drawing of a bicycle&#10;&#10;AI-generated content may be incorrect.">
            <a:extLst>
              <a:ext uri="{FF2B5EF4-FFF2-40B4-BE49-F238E27FC236}">
                <a16:creationId xmlns:a16="http://schemas.microsoft.com/office/drawing/2014/main" id="{4248CC16-8EC3-8101-D1E4-9105A1790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5" b="11850"/>
          <a:stretch>
            <a:fillRect/>
          </a:stretch>
        </p:blipFill>
        <p:spPr>
          <a:xfrm>
            <a:off x="8229599" y="1353934"/>
            <a:ext cx="3603187" cy="4918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close-up of a paper&#10;&#10;AI-generated content may be incorrect.">
            <a:extLst>
              <a:ext uri="{FF2B5EF4-FFF2-40B4-BE49-F238E27FC236}">
                <a16:creationId xmlns:a16="http://schemas.microsoft.com/office/drawing/2014/main" id="{D7D2ACBC-C73B-25C3-6C97-13190868D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0" r="4684" b="37204"/>
          <a:stretch>
            <a:fillRect/>
          </a:stretch>
        </p:blipFill>
        <p:spPr>
          <a:xfrm>
            <a:off x="3667433" y="1965992"/>
            <a:ext cx="4080388" cy="4306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B1FC6D-E6DF-E60A-78C0-06F2C2ECC488}"/>
              </a:ext>
            </a:extLst>
          </p:cNvPr>
          <p:cNvSpPr txBox="1"/>
          <p:nvPr/>
        </p:nvSpPr>
        <p:spPr>
          <a:xfrm>
            <a:off x="495299" y="1965992"/>
            <a:ext cx="3172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Software: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Onshape</a:t>
            </a:r>
            <a:r>
              <a:rPr lang="en-US" sz="2400" dirty="0">
                <a:solidFill>
                  <a:schemeClr val="bg1"/>
                </a:solidFill>
              </a:rPr>
              <a:t> (Cloud)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PrusaSlicer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311C51-8F7B-631B-2099-675384D9953D}"/>
              </a:ext>
            </a:extLst>
          </p:cNvPr>
          <p:cNvSpPr txBox="1"/>
          <p:nvPr/>
        </p:nvSpPr>
        <p:spPr>
          <a:xfrm>
            <a:off x="495299" y="3691680"/>
            <a:ext cx="3044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3D Printing: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Prototyping: PLA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Expo: Nylon Filament</a:t>
            </a:r>
          </a:p>
        </p:txBody>
      </p:sp>
    </p:spTree>
    <p:extLst>
      <p:ext uri="{BB962C8B-B14F-4D97-AF65-F5344CB8AC3E}">
        <p14:creationId xmlns:p14="http://schemas.microsoft.com/office/powerpoint/2010/main" val="1752613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EC90-5A0A-7085-EC0B-196A968E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5" y="315963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Timeline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3414C8-D90B-FDEB-7CEC-4A885D9B9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123" y="690643"/>
            <a:ext cx="6929283" cy="5851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4A4E3B-6DE8-A088-24DC-90CE5797EEA2}"/>
              </a:ext>
            </a:extLst>
          </p:cNvPr>
          <p:cNvSpPr txBox="1"/>
          <p:nvPr/>
        </p:nvSpPr>
        <p:spPr>
          <a:xfrm>
            <a:off x="707923" y="1641526"/>
            <a:ext cx="3559277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bg1"/>
                </a:solidFill>
              </a:rPr>
              <a:t>Responsibilities: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each teammate responsible for one area of the project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Mitchell: accelerometer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Jacob: LED array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Rowan: tachometer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Roman: LCD display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E615D-C3F8-35DE-931C-7A27985A723C}"/>
              </a:ext>
            </a:extLst>
          </p:cNvPr>
          <p:cNvSpPr txBox="1"/>
          <p:nvPr/>
        </p:nvSpPr>
        <p:spPr>
          <a:xfrm>
            <a:off x="707923" y="4362394"/>
            <a:ext cx="30283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bg1"/>
                </a:solidFill>
              </a:rPr>
              <a:t>Jira: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used to keep track of tasks, expenses, and deadlines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Gantt Chart </a:t>
            </a:r>
          </a:p>
        </p:txBody>
      </p:sp>
    </p:spTree>
    <p:extLst>
      <p:ext uri="{BB962C8B-B14F-4D97-AF65-F5344CB8AC3E}">
        <p14:creationId xmlns:p14="http://schemas.microsoft.com/office/powerpoint/2010/main" val="508332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83189-1C9E-1D12-40DF-F1C235AF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13" y="256970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Testing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93359-A3AD-B424-1D9C-FD48C5991C58}"/>
              </a:ext>
            </a:extLst>
          </p:cNvPr>
          <p:cNvSpPr txBox="1"/>
          <p:nvPr/>
        </p:nvSpPr>
        <p:spPr>
          <a:xfrm>
            <a:off x="934065" y="1721032"/>
            <a:ext cx="35199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Hardware: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Ensuring that microcontrollers integrate well with our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	LCD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	Accelerometer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	Hall Effect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	Bluetooth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	Batteries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Test components on a breadboard. Spend time doing the MATH!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C8616-00C3-D1A9-1140-FA8B78054687}"/>
              </a:ext>
            </a:extLst>
          </p:cNvPr>
          <p:cNvSpPr txBox="1"/>
          <p:nvPr/>
        </p:nvSpPr>
        <p:spPr>
          <a:xfrm>
            <a:off x="4827639" y="1721032"/>
            <a:ext cx="29103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Software: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capable of supporting the hardware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ensuring everyone is on the same page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testing code before soldering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7F8BB9-2348-F199-C16E-539B17407EEF}"/>
              </a:ext>
            </a:extLst>
          </p:cNvPr>
          <p:cNvSpPr txBox="1"/>
          <p:nvPr/>
        </p:nvSpPr>
        <p:spPr>
          <a:xfrm>
            <a:off x="8445909" y="1582533"/>
            <a:ext cx="304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Integration and Design: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be resourceful.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 amenities provided to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Craft a brand through seamless design. This is an expo!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8" name="Picture 4" descr="Think Traffic - Philly Ad Club">
            <a:extLst>
              <a:ext uri="{FF2B5EF4-FFF2-40B4-BE49-F238E27FC236}">
                <a16:creationId xmlns:a16="http://schemas.microsoft.com/office/drawing/2014/main" id="{86A11A18-609D-C1E6-2AB3-DB8E166102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2" r="6359"/>
          <a:stretch>
            <a:fillRect/>
          </a:stretch>
        </p:blipFill>
        <p:spPr bwMode="auto">
          <a:xfrm>
            <a:off x="8785122" y="3990278"/>
            <a:ext cx="2369575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ree download | HD PNG arduino logo PNG transparent with Clear Background ID 222719 | TOPpng">
            <a:extLst>
              <a:ext uri="{FF2B5EF4-FFF2-40B4-BE49-F238E27FC236}">
                <a16:creationId xmlns:a16="http://schemas.microsoft.com/office/drawing/2014/main" id="{9ED2AF0C-D8D3-3240-C09D-C6CBFB135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79" b="89872" l="1310" r="97738">
                        <a14:foregroundMark x1="7857" y1="32014" x2="8690" y2="50757"/>
                        <a14:foregroundMark x1="3095" y1="35041" x2="3929" y2="47381"/>
                        <a14:foregroundMark x1="19524" y1="39697" x2="22143" y2="38417"/>
                        <a14:foregroundMark x1="73095" y1="35856" x2="73408" y2="44835"/>
                        <a14:foregroundMark x1="90476" y1="26542" x2="94643" y2="51455"/>
                        <a14:foregroundMark x1="94643" y1="51455" x2="92738" y2="29104"/>
                        <a14:foregroundMark x1="92738" y1="29104" x2="91786" y2="28638"/>
                        <a14:foregroundMark x1="97857" y1="40163" x2="97857" y2="40163"/>
                        <a14:foregroundMark x1="1310" y1="38882" x2="1310" y2="38882"/>
                        <a14:foregroundMark x1="2143" y1="38417" x2="2143" y2="38417"/>
                        <a14:foregroundMark x1="74762" y1="37136" x2="74762" y2="39232"/>
                        <a14:foregroundMark x1="75356" y1="44548" x2="73452" y2="45169"/>
                        <a14:foregroundMark x1="72143" y1="45169" x2="75356" y2="45169"/>
                        <a14:foregroundMark x1="10833" y1="76717" x2="10833" y2="76717"/>
                        <a14:foregroundMark x1="21310" y1="75437" x2="21310" y2="75437"/>
                        <a14:foregroundMark x1="32619" y1="81374" x2="32619" y2="81374"/>
                        <a14:foregroundMark x1="48690" y1="81374" x2="48690" y2="81374"/>
                        <a14:foregroundMark x1="64405" y1="78347" x2="64405" y2="78347"/>
                        <a14:foregroundMark x1="77381" y1="75786" x2="77381" y2="75786"/>
                        <a14:foregroundMark x1="95238" y1="80093" x2="95238" y2="80093"/>
                        <a14:backgroundMark x1="76905" y1="43539" x2="76548" y2="45169"/>
                        <a14:backgroundMark x1="78690" y1="44354" x2="77381" y2="43539"/>
                        <a14:backgroundMark x1="77381" y1="43888" x2="77381" y2="43888"/>
                        <a14:backgroundMark x1="77381" y1="43888" x2="77381" y2="46915"/>
                        <a14:backgroundMark x1="8214" y1="74971" x2="8214" y2="749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955" y="4146956"/>
            <a:ext cx="2261419" cy="23128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olderless Breadboard 400 pins">
            <a:extLst>
              <a:ext uri="{FF2B5EF4-FFF2-40B4-BE49-F238E27FC236}">
                <a16:creationId xmlns:a16="http://schemas.microsoft.com/office/drawing/2014/main" id="{D4B31E37-D39A-8AA5-062C-1ECC16C96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311" b="89939" l="10000" r="90000">
                        <a14:foregroundMark x1="61938" y1="8311" x2="61938" y2="83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131" y="5017474"/>
            <a:ext cx="2018882" cy="1442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289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D0BB-901C-9C8F-5544-2DC44FB8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Risk Mitigation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C6B8C5-7AEF-C710-45A4-A33EEFEC7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590674"/>
              </p:ext>
            </p:extLst>
          </p:nvPr>
        </p:nvGraphicFramePr>
        <p:xfrm>
          <a:off x="2011680" y="1874901"/>
          <a:ext cx="8168640" cy="31140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96594045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108650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Potential Risk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Our Plan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15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Not having enough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 use an external supply that goes into the Arduino 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250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Wires and connection coming loose due to bumps and shaking of the bicycle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Create absorbent casings that minimize the bumps, maintaining a strong connection and solder our parts.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0689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Errors in coding when it comes to the luminosity of the lights, LCD Display, Accelerometer, and Hall-Effect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Preprogram all our components on a breadboard before attaching it to the bike, and using trial and error to resolve any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95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145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73EF-F5C4-86DF-BE55-3A53912F5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317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Bill of Materials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A9134A-2B1D-FF38-CA91-13238982E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253690"/>
              </p:ext>
            </p:extLst>
          </p:nvPr>
        </p:nvGraphicFramePr>
        <p:xfrm>
          <a:off x="358589" y="1102846"/>
          <a:ext cx="11334394" cy="5322429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3824893105"/>
                    </a:ext>
                  </a:extLst>
                </a:gridCol>
                <a:gridCol w="1317071">
                  <a:extLst>
                    <a:ext uri="{9D8B030D-6E8A-4147-A177-3AD203B41FA5}">
                      <a16:colId xmlns:a16="http://schemas.microsoft.com/office/drawing/2014/main" val="529481077"/>
                    </a:ext>
                  </a:extLst>
                </a:gridCol>
                <a:gridCol w="2517586">
                  <a:extLst>
                    <a:ext uri="{9D8B030D-6E8A-4147-A177-3AD203B41FA5}">
                      <a16:colId xmlns:a16="http://schemas.microsoft.com/office/drawing/2014/main" val="1194051884"/>
                    </a:ext>
                  </a:extLst>
                </a:gridCol>
                <a:gridCol w="4324737">
                  <a:extLst>
                    <a:ext uri="{9D8B030D-6E8A-4147-A177-3AD203B41FA5}">
                      <a16:colId xmlns:a16="http://schemas.microsoft.com/office/drawing/2014/main" val="2955322980"/>
                    </a:ext>
                  </a:extLst>
                </a:gridCol>
              </a:tblGrid>
              <a:tr h="326447">
                <a:tc>
                  <a:txBody>
                    <a:bodyPr/>
                    <a:lstStyle/>
                    <a:p>
                      <a:r>
                        <a:rPr lang="en-US"/>
                        <a:t>Item Name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Price (USD)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Where?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Importance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400308"/>
                  </a:ext>
                </a:extLst>
              </a:tr>
              <a:tr h="7395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SparkFun Triple Axis Accelerometer Breakout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19.50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Measures our acceleration, allowing us to know when we are slowing down.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660289"/>
                  </a:ext>
                </a:extLst>
              </a:tr>
              <a:tr h="7395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SparkFun Linear 3D Hall-Effect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7.11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Magnetic field sensor to determine the distance travelled on the bike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2568"/>
                  </a:ext>
                </a:extLst>
              </a:tr>
              <a:tr h="51965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LED – Super Bright Red (25 Pack)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4.75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SparkFun 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Makes up or brake light on the back of the bike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637805"/>
                  </a:ext>
                </a:extLst>
              </a:tr>
              <a:tr h="7395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SparkFun Qwiic Cable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12.95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noProof="0">
                          <a:solidFill>
                            <a:srgbClr val="000000"/>
                          </a:solidFill>
                        </a:rPr>
                        <a:t>SparkFun Electronics</a:t>
                      </a:r>
                    </a:p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Allows us to wire things faster with less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968742"/>
                  </a:ext>
                </a:extLst>
              </a:tr>
              <a:tr h="7395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SparkFun Capacitor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11.50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noProof="0">
                          <a:solidFill>
                            <a:srgbClr val="000000"/>
                          </a:solidFill>
                        </a:rPr>
                        <a:t>SparkFun Electronics</a:t>
                      </a:r>
                    </a:p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Allows us to more precisely control the thresholds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187861"/>
                  </a:ext>
                </a:extLst>
              </a:tr>
              <a:tr h="7395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SparkFun TFT LCD Breakout – 1.8" (128x160)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34.95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noProof="0">
                          <a:solidFill>
                            <a:srgbClr val="000000"/>
                          </a:solidFill>
                        </a:rPr>
                        <a:t>SparkFun Electronics</a:t>
                      </a:r>
                    </a:p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This is our digital display for our speed, distance,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64996"/>
                  </a:ext>
                </a:extLst>
              </a:tr>
              <a:tr h="7395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2x SparkFun Thing Plus – ESP32 WROOM (Micro-B)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24.95 per</a:t>
                      </a:r>
                    </a:p>
                    <a:p>
                      <a:pPr lvl="0">
                        <a:buNone/>
                      </a:pPr>
                      <a:r>
                        <a:rPr lang="en-US" sz="1600"/>
                        <a:t>49.90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noProof="0">
                          <a:solidFill>
                            <a:srgbClr val="000000"/>
                          </a:solidFill>
                        </a:rPr>
                        <a:t>SparkFun Electronics</a:t>
                      </a:r>
                    </a:p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These are the core of our circuit and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91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8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rgbClr val="D12C1F"/>
            </a:gs>
            <a:gs pos="18000">
              <a:srgbClr val="FF655D"/>
            </a:gs>
            <a:gs pos="29000">
              <a:schemeClr val="tx1">
                <a:lumMod val="85000"/>
              </a:schemeClr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6CA70-3373-8FB7-0E0B-D55DDEE5E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F6A00-63B3-6AB5-BC2A-B2F0B7837369}"/>
              </a:ext>
            </a:extLst>
          </p:cNvPr>
          <p:cNvSpPr txBox="1"/>
          <p:nvPr/>
        </p:nvSpPr>
        <p:spPr>
          <a:xfrm>
            <a:off x="1035843" y="1678781"/>
            <a:ext cx="10810875" cy="3939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We've identified an issue and have developed a solution</a:t>
            </a:r>
          </a:p>
          <a:p>
            <a:pPr marL="342900" indent="-342900">
              <a:buFont typeface="Arial"/>
              <a:buChar char="•"/>
            </a:pPr>
            <a:endParaRPr lang="en-US" sz="24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Our dynamic brake light is intended to reduce bike accidents</a:t>
            </a:r>
          </a:p>
          <a:p>
            <a:pPr marL="342900" indent="-342900">
              <a:buFont typeface="Arial"/>
              <a:buChar char="•"/>
            </a:pPr>
            <a:endParaRPr lang="en-US" sz="24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Through our planned testing and navigating risks our device will be optimized</a:t>
            </a:r>
          </a:p>
          <a:p>
            <a:pPr marL="342900" indent="-342900">
              <a:buFont typeface="Arial"/>
              <a:buChar char="•"/>
            </a:pPr>
            <a:endParaRPr lang="en-US" sz="24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400">
              <a:solidFill>
                <a:schemeClr val="bg1"/>
              </a:solidFill>
            </a:endParaRPr>
          </a:p>
          <a:p>
            <a:pPr algn="ctr"/>
            <a:r>
              <a:rPr lang="en-US" sz="3200">
                <a:solidFill>
                  <a:schemeClr val="bg1"/>
                </a:solidFill>
              </a:rPr>
              <a:t>Questions?</a:t>
            </a:r>
          </a:p>
          <a:p>
            <a:pPr algn="ctr"/>
            <a:endParaRPr lang="en-US" sz="3200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884025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4551"/>
      </a:dk2>
      <a:lt2>
        <a:srgbClr val="F2ACD2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32044a-ec17-48ba-aa18-87c6ca454e5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89F9FCC959D14D8B17B4784C167141" ma:contentTypeVersion="10" ma:contentTypeDescription="Create a new document." ma:contentTypeScope="" ma:versionID="dd585985693aaa2242153394797ae4ef">
  <xsd:schema xmlns:xsd="http://www.w3.org/2001/XMLSchema" xmlns:xs="http://www.w3.org/2001/XMLSchema" xmlns:p="http://schemas.microsoft.com/office/2006/metadata/properties" xmlns:ns3="a332044a-ec17-48ba-aa18-87c6ca454e59" targetNamespace="http://schemas.microsoft.com/office/2006/metadata/properties" ma:root="true" ma:fieldsID="447b8c01ed046fce752e5f855fb04543" ns3:_="">
    <xsd:import namespace="a332044a-ec17-48ba-aa18-87c6ca454e5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32044a-ec17-48ba-aa18-87c6ca454e5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079888-23C6-4948-A447-E339EF2CD790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a332044a-ec17-48ba-aa18-87c6ca454e5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F8D99C2-0387-43E8-AA80-B868FF82D4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E370DF-7E99-4FC1-ADDF-4A5C7CE0AB39}">
  <ds:schemaRefs>
    <ds:schemaRef ds:uri="a332044a-ec17-48ba-aa18-87c6ca454e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630</Words>
  <Application>Microsoft Office PowerPoint</Application>
  <PresentationFormat>Widescreen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Corbel</vt:lpstr>
      <vt:lpstr>Depth</vt:lpstr>
      <vt:lpstr>Light-Braker</vt:lpstr>
      <vt:lpstr>Presentation Outline</vt:lpstr>
      <vt:lpstr>Problem</vt:lpstr>
      <vt:lpstr>Introducing the Dynamic Brake Light</vt:lpstr>
      <vt:lpstr>Introducing the Dynamic Break Light</vt:lpstr>
      <vt:lpstr>Electronics</vt:lpstr>
      <vt:lpstr>Code</vt:lpstr>
      <vt:lpstr>Electrical Enclosures</vt:lpstr>
      <vt:lpstr>Timeline</vt:lpstr>
      <vt:lpstr>Testing Plan</vt:lpstr>
      <vt:lpstr>Risk Mitigation</vt:lpstr>
      <vt:lpstr>Bill of Materials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Mitchell vallis</dc:creator>
  <cp:lastModifiedBy>Michael Tagliola</cp:lastModifiedBy>
  <cp:revision>2</cp:revision>
  <dcterms:created xsi:type="dcterms:W3CDTF">2025-09-29T21:41:33Z</dcterms:created>
  <dcterms:modified xsi:type="dcterms:W3CDTF">2025-10-19T20:16:17Z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0x010100D389F9FCC959D14D8B17B4784C167141</vt:lpwstr>
  </property>
</Properties>
</file>